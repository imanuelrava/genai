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over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8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67200" y="1394073"/>
            <a:ext cx="6096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736973"/>
            <a:ext cx="8595360" cy="59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70"/>
              </a:lnSpc>
              <a:spcAft>
                <a:spcPts val="12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GenAI Research Platform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2593631" y="2444353"/>
            <a:ext cx="3956588" cy="70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spcAft>
                <a:spcPts val="3200"/>
              </a:spcAft>
              <a:buNone/>
            </a:pPr>
            <a:r>
              <a:rPr lang="en-US" sz="19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Demonstrating How AI is Applied to</a:t>
            </a:r>
            <a:endParaRPr lang="en-US" sz="1900" dirty="0"/>
          </a:p>
          <a:p>
            <a:pPr algn="ctr" indent="0" marL="0">
              <a:lnSpc>
                <a:spcPts val="2565"/>
              </a:lnSpc>
              <a:spcAft>
                <a:spcPts val="3200"/>
              </a:spcAft>
              <a:buNone/>
            </a:pPr>
            <a:r>
              <a:rPr lang="en-US" sz="19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Chemistry &amp; Biology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37600" y="3501926"/>
            <a:ext cx="2468651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Research Presentation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06301"/>
            <a:ext cx="8585299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58701" y="903982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1195983"/>
            <a:ext cx="1841450" cy="354121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6402" y="1449884"/>
            <a:ext cx="205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6402" y="1932384"/>
            <a:ext cx="1560351" cy="49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&amp; ML Introduction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6402" y="2458045"/>
            <a:ext cx="1560351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Core concepts, ideas and math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52551" y="1195983"/>
            <a:ext cx="1841450" cy="354121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30252" y="1449884"/>
            <a:ext cx="205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30252" y="1932384"/>
            <a:ext cx="175353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 Extraction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30252" y="2226915"/>
            <a:ext cx="1560351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Vision-first PDF pipeline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6402" y="1195983"/>
            <a:ext cx="1841450" cy="354121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24102" y="1449884"/>
            <a:ext cx="205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24102" y="1932384"/>
            <a:ext cx="1560351" cy="499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Network &amp; Knowledge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24102" y="2458045"/>
            <a:ext cx="1560351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Citation &amp; knowledge graphs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40252" y="1195983"/>
            <a:ext cx="1841450" cy="354121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17953" y="1449884"/>
            <a:ext cx="205074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717953" y="1932384"/>
            <a:ext cx="175353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Intelligent Bots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17953" y="2226915"/>
            <a:ext cx="1560351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NiCOBot and RAL Bot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174950" cy="51435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821359"/>
            <a:ext cx="3055174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800"/>
              </a:spcAft>
              <a:buNone/>
            </a:pPr>
            <a:r>
              <a:rPr lang="en-US" sz="1300" b="1" spc="200" kern="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55550" y="2087910"/>
            <a:ext cx="3079812" cy="107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1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Introduction</a:t>
            </a:r>
            <a:endParaRPr lang="en-US" sz="3400" dirty="0"/>
          </a:p>
          <a:p>
            <a:pPr algn="l" indent="0" marL="0">
              <a:lnSpc>
                <a:spcPts val="391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to AI &amp; ML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55550" y="3284041"/>
            <a:ext cx="406301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81251" y="922288"/>
            <a:ext cx="50750" cy="50795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58952" y="1087487"/>
            <a:ext cx="3318814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Fundamentals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58952" y="1497062"/>
            <a:ext cx="331881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Core ideas driving modern AI applications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81251" y="2106513"/>
            <a:ext cx="50750" cy="50795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58952" y="2271713"/>
            <a:ext cx="2438796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58952" y="2681288"/>
            <a:ext cx="24387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How machines learn from 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1251" y="3290739"/>
            <a:ext cx="50750" cy="50795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58952" y="3455938"/>
            <a:ext cx="295862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Math Visualization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58952" y="3865513"/>
            <a:ext cx="2958623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Algorithms behind intelligent systems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7701"/>
            <a:ext cx="47297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What is Artificial Intelligence?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58701" y="1444675"/>
            <a:ext cx="32742" cy="406301"/>
          </a:xfrm>
          <a:prstGeom prst="roundRect">
            <a:avLst>
              <a:gd name="adj" fmla="val 77576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8393" y="1419374"/>
            <a:ext cx="8425607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Definition &amp; Scope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8393" y="1706463"/>
            <a:ext cx="8260251" cy="51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simulates human intelligence through learning, reasoning, and self-correction, from rule-based systems to neural networks.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8701" y="2337346"/>
            <a:ext cx="38100" cy="406301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23751" y="2312045"/>
            <a:ext cx="7245682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Key Subsets: ML, DL, NLP, CV, RL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3751" y="2599134"/>
            <a:ext cx="7245682" cy="258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Major AI branches powering modern applications across industries and scientific research.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58701" y="2990701"/>
            <a:ext cx="37207" cy="406301"/>
          </a:xfrm>
          <a:prstGeom prst="roundRect">
            <a:avLst>
              <a:gd name="adj" fmla="val 682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2858" y="2965400"/>
            <a:ext cx="8421142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in Scientific Research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858" y="3252490"/>
            <a:ext cx="8255563" cy="51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Accelerates drug discovery, material design, and chemical analysis by finding hidden patterns in vast datasets.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8701" y="3883372"/>
            <a:ext cx="38100" cy="406301"/>
          </a:xfrm>
          <a:prstGeom prst="roundRect">
            <a:avLst>
              <a:gd name="adj" fmla="val 66667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3751" y="3858071"/>
            <a:ext cx="8106966" cy="26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Large Language Models (LLMs)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3751" y="4145161"/>
            <a:ext cx="8106966" cy="258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Transformers enable intelligent analysis of research papers, patents, and chemical literature at scale.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55550"/>
            <a:ext cx="8585299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Core Machine Learning Concepts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822722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1063972"/>
            <a:ext cx="2489150" cy="257800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29257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45207" y="1419523"/>
            <a:ext cx="194908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1851" y="1927473"/>
            <a:ext cx="2457763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Supervised Learning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1851" y="2251323"/>
            <a:ext cx="21869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Learns from labeled data for classification and regression. Used for molecular property prediction and toxicity screening.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251" y="1063972"/>
            <a:ext cx="2489150" cy="257800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03402" y="129257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86758" y="1419523"/>
            <a:ext cx="194908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03402" y="1927473"/>
            <a:ext cx="2186992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Unsupervised Learning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03402" y="2498973"/>
            <a:ext cx="21869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Discovers hidden patterns through clustering. Essential for chemical space exploration and reaction grouping.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41802" y="1063972"/>
            <a:ext cx="2489150" cy="2578001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44952" y="1292572"/>
            <a:ext cx="507950" cy="507950"/>
          </a:xfrm>
          <a:prstGeom prst="roundRect">
            <a:avLst>
              <a:gd name="adj" fmla="val 180018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28308" y="1419523"/>
            <a:ext cx="194908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44952" y="1927473"/>
            <a:ext cx="2186992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Reinforcement Learning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44952" y="2498973"/>
            <a:ext cx="218699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Agents learn through trial and reward. Applied in molecular optimization and retrosynthesis planning.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55550"/>
            <a:ext cx="3837548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Mathematics Behind ML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8701" y="809476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1050727"/>
            <a:ext cx="8026598" cy="1533525"/>
          </a:xfrm>
          <a:prstGeom prst="roundRect">
            <a:avLst>
              <a:gd name="adj" fmla="val 662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71376" y="12379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03238" y="1333202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79327" y="1415653"/>
            <a:ext cx="780262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Linear Algebra &amp; Matrix Operations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9327" y="1802904"/>
            <a:ext cx="7447962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Vectors, matrices, and tensors form the foundation. Neural network weights are matrices; eigenvalue decomposition drives PCA for feature extraction.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8701" y="2736652"/>
            <a:ext cx="8026598" cy="1533525"/>
          </a:xfrm>
          <a:prstGeom prst="roundRect">
            <a:avLst>
              <a:gd name="adj" fmla="val 662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71376" y="292387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03238" y="3019127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79327" y="3101578"/>
            <a:ext cx="780262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Calculus &amp; Optimization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79327" y="3488829"/>
            <a:ext cx="7447962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Gradient descent and backpropagation minimize loss functions. Adam and SGD optimizers drive convergence in chemistry AI models.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8701" y="4422577"/>
            <a:ext cx="8026598" cy="1533525"/>
          </a:xfrm>
          <a:prstGeom prst="roundRect">
            <a:avLst>
              <a:gd name="adj" fmla="val 662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1376" y="460980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03238" y="4705052"/>
            <a:ext cx="126721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79327" y="4787503"/>
            <a:ext cx="780262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Probability &amp; Information Theory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79327" y="5174754"/>
            <a:ext cx="744796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Bayesian inference, entropy, and cross-entropy measure model quality. Attention mechanisms use softmax to weigh input relevance.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7701"/>
            <a:ext cx="53725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Neural Networks &amp; Deep Learning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58701" y="1611660"/>
            <a:ext cx="3492445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Transformer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8701" y="1977182"/>
            <a:ext cx="3174950" cy="197891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Self-attention captures long-range dependencies</a:t>
            </a:r>
            <a:endParaRPr lang="en-US" sz="130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Multi-head attention for parallel context features</a:t>
            </a:r>
            <a:endParaRPr lang="en-US" sz="130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Feed-forward layers for non-linear transforms</a:t>
            </a:r>
            <a:endParaRPr lang="en-US" sz="130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Layer normalization for training stability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8701" y="3996482"/>
            <a:ext cx="3492445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1200"/>
              </a:spcBef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Foundation of GPT, Claude, Gemini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87552" y="1365498"/>
            <a:ext cx="4063901" cy="3072854"/>
          </a:xfrm>
          <a:prstGeom prst="roundRect">
            <a:avLst>
              <a:gd name="adj" fmla="val 413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30552" y="1568648"/>
            <a:ext cx="1777901" cy="381000"/>
          </a:xfrm>
          <a:prstGeom prst="roundRect">
            <a:avLst>
              <a:gd name="adj" fmla="val 20000"/>
            </a:avLst>
          </a:prstGeom>
          <a:solidFill>
            <a:srgbClr val="A8CE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84750" y="1682948"/>
            <a:ext cx="14980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Input (Text/Images)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75003" y="2051149"/>
            <a:ext cx="115506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49552" y="2330500"/>
            <a:ext cx="2539901" cy="381000"/>
          </a:xfrm>
          <a:prstGeom prst="roundRect">
            <a:avLst>
              <a:gd name="adj" fmla="val 2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56324" y="2444800"/>
            <a:ext cx="15651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Self-Attention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75003" y="2813000"/>
            <a:ext cx="115506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95502" y="3092351"/>
            <a:ext cx="3048000" cy="381000"/>
          </a:xfrm>
          <a:prstGeom prst="roundRect">
            <a:avLst>
              <a:gd name="adj" fmla="val 20000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09865" y="3206651"/>
            <a:ext cx="21467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Feed-Forward + LayerNorm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75003" y="3574852"/>
            <a:ext cx="115506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76502" y="3854202"/>
            <a:ext cx="2286000" cy="381000"/>
          </a:xfrm>
          <a:prstGeom prst="roundRect">
            <a:avLst>
              <a:gd name="adj" fmla="val 20000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91299" y="3968502"/>
            <a:ext cx="1482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Output Predictions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images/dark-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A40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899892" y="1599158"/>
            <a:ext cx="1666643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1000"/>
              </a:spcAft>
              <a:buNone/>
            </a:pPr>
            <a:r>
              <a:rPr lang="en-US" sz="1300" b="1" spc="300" kern="0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74320" y="1891159"/>
            <a:ext cx="8595211" cy="107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10"/>
              </a:lnSpc>
              <a:spcAft>
                <a:spcPts val="14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Application of LLM</a:t>
            </a:r>
            <a:endParaRPr lang="en-US" sz="3400" dirty="0"/>
          </a:p>
          <a:p>
            <a:pPr algn="ctr" indent="0" marL="0">
              <a:lnSpc>
                <a:spcPts val="3910"/>
              </a:lnSpc>
              <a:spcAft>
                <a:spcPts val="140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 Chemistry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267200" y="3061841"/>
            <a:ext cx="6096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106894" y="3277642"/>
            <a:ext cx="693021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400"/>
              </a:spcBef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Data Extraction | Citation Network | Knowledge Graph | NiCOBot | RAL Bot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7701"/>
            <a:ext cx="40018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GenAI Platform Overview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58701" y="1529507"/>
            <a:ext cx="2438400" cy="1254472"/>
          </a:xfrm>
          <a:prstGeom prst="roundRect">
            <a:avLst>
              <a:gd name="adj" fmla="val 101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9802" y="1783407"/>
            <a:ext cx="291619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932" y="2316807"/>
            <a:ext cx="245793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LLM Providers Integrated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74802" y="1529507"/>
            <a:ext cx="2438400" cy="1254472"/>
          </a:xfrm>
          <a:prstGeom prst="roundRect">
            <a:avLst>
              <a:gd name="adj" fmla="val 101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35903" y="1783407"/>
            <a:ext cx="291619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165032" y="2316807"/>
            <a:ext cx="245793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Core Chemistry Modules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90902" y="1529507"/>
            <a:ext cx="2438400" cy="1254472"/>
          </a:xfrm>
          <a:prstGeom prst="roundRect">
            <a:avLst>
              <a:gd name="adj" fmla="val 101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552003" y="1783407"/>
            <a:ext cx="2916198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00"/>
              </a:lnSpc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Flask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781133" y="2316807"/>
            <a:ext cx="245793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Python Web Framework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8701" y="2961680"/>
            <a:ext cx="3759101" cy="1312515"/>
          </a:xfrm>
          <a:prstGeom prst="roundRect">
            <a:avLst>
              <a:gd name="adj" fmla="val 96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82513" y="2961680"/>
            <a:ext cx="0" cy="1312515"/>
          </a:xfrm>
          <a:prstGeom prst="line">
            <a:avLst/>
          </a:prstGeom>
          <a:noFill/>
          <a:ln w="47625">
            <a:solidFill>
              <a:srgbClr val="FF6B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926" y="3139380"/>
            <a:ext cx="3579703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Multi-Provider Architecture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4926" y="3433911"/>
            <a:ext cx="3416990" cy="71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Supports OpenAI, Anthropic, Google, Mistral, and more through a unified Blueprint factory pattern.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95502" y="2961680"/>
            <a:ext cx="3759101" cy="1312515"/>
          </a:xfrm>
          <a:prstGeom prst="roundRect">
            <a:avLst>
              <a:gd name="adj" fmla="val 96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19315" y="2961680"/>
            <a:ext cx="0" cy="1312515"/>
          </a:xfrm>
          <a:prstGeom prst="line">
            <a:avLst/>
          </a:prstGeom>
          <a:noFill/>
          <a:ln w="47625">
            <a:solidFill>
              <a:srgbClr val="408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1727" y="3139380"/>
            <a:ext cx="3579703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Modular Backend Design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1727" y="3433911"/>
            <a:ext cx="3416990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Organized into core, llm, chat, routes, modules directories. Independently maintainable.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4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51435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1489918"/>
            <a:ext cx="2453744" cy="1198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Chem</a:t>
            </a:r>
            <a:endParaRPr lang="en-US" sz="3800" dirty="0"/>
          </a:p>
          <a:p>
            <a:pPr algn="l" indent="0" marL="0">
              <a:lnSpc>
                <a:spcPts val="437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Extract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55550" y="2777579"/>
            <a:ext cx="406301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5550" y="2993380"/>
            <a:ext cx="2453744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4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Vision-first PDF analysis for chemical literature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54301" y="706041"/>
            <a:ext cx="50750" cy="45720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32002" y="858441"/>
            <a:ext cx="551199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PDF Upload &amp; Parsing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32002" y="1245691"/>
            <a:ext cx="5360983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Upload chemistry PDFs for automated extraction of figures, tables, and reaction schemes.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54301" y="2017514"/>
            <a:ext cx="50750" cy="45720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32002" y="2169914"/>
            <a:ext cx="551199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Vision LLM Analysis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32002" y="2557165"/>
            <a:ext cx="5360983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Extracted images sent to GPT-4V, Claude Vision for detailed chemical structure analysis.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54301" y="3328988"/>
            <a:ext cx="50750" cy="457200"/>
          </a:xfrm>
          <a:prstGeom prst="roundRect">
            <a:avLst>
              <a:gd name="adj" fmla="val 500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32002" y="3481388"/>
            <a:ext cx="551199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Structured JSON Output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2002" y="3868638"/>
            <a:ext cx="5360983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Merged results with compound names, yields, reaction conditions, and reagent lists.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7701"/>
            <a:ext cx="39580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Vision-First PDF Pipeline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58701" y="158903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2291" y="1703189"/>
            <a:ext cx="13658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1952" y="2100709"/>
            <a:ext cx="7493347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1952" y="1474143"/>
            <a:ext cx="805204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Embedded Figure Extraction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1952" y="1743373"/>
            <a:ext cx="8052048" cy="23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PyMuPDF extracts raster images directly from PDF, preserving resolution for quality analysis.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377529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2291" y="2491680"/>
            <a:ext cx="13658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1952" y="2889200"/>
            <a:ext cx="7493347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1952" y="2262634"/>
            <a:ext cx="805204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Vector Scheme Page Detection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1952" y="2531864"/>
            <a:ext cx="8052048" cy="23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High vector density pages are flagged and rendered via Playwright for reaction scheme capture.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8701" y="3166021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2291" y="3280172"/>
            <a:ext cx="13658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1952" y="3677692"/>
            <a:ext cx="7493347" cy="0"/>
          </a:xfrm>
          <a:prstGeom prst="line">
            <a:avLst/>
          </a:prstGeom>
          <a:noFill/>
          <a:ln w="19050">
            <a:solidFill>
              <a:srgbClr val="D8E9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1952" y="3051125"/>
            <a:ext cx="805204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Vision LLM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1952" y="3320355"/>
            <a:ext cx="8052048" cy="23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Images analyzed by vision LLMs using chemistry prompts to identify compounds and reactions.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8701" y="388143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12291" y="3995589"/>
            <a:ext cx="136580" cy="1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1952" y="3839617"/>
            <a:ext cx="805204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Text + Vision Merge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1952" y="4108847"/>
            <a:ext cx="8052048" cy="23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Vision data takes priority for structures and reactions, merged with text extraction results.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7701"/>
            <a:ext cx="4100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Citation Network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58701" y="2141190"/>
            <a:ext cx="4572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2306241"/>
            <a:ext cx="4135011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Single Paper Network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58701" y="2646462"/>
            <a:ext cx="3759101" cy="107717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Upload PDF to generate citation network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Cytoscape.js interactive force graphs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Visualize cited and citing articles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Color-coded by relevance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95502" y="1758851"/>
            <a:ext cx="12650" cy="2286000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85854" y="2141190"/>
            <a:ext cx="4572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85854" y="2306241"/>
            <a:ext cx="4135011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Cross-Citation Network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85854" y="2646462"/>
            <a:ext cx="3759101" cy="107717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Excel bibliography for multi-paper analysis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Build cross-referencing networks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Identify research trend clusters</a:t>
            </a:r>
            <a:endParaRPr lang="en-US" sz="1200" dirty="0"/>
          </a:p>
          <a:p>
            <a:pPr algn="l" marL="114300" indent="-1143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Export for bibliometric study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55550"/>
            <a:ext cx="8585299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Knowledge Graph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58701" y="822722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1013222"/>
            <a:ext cx="3937099" cy="1363414"/>
          </a:xfrm>
          <a:prstGeom prst="roundRect">
            <a:avLst>
              <a:gd name="adj" fmla="val 93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87301" y="1216372"/>
            <a:ext cx="382788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Entity Extraction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7301" y="1510903"/>
            <a:ext cx="3653894" cy="71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LLMs extract compounds, proteins, genes, diseases, and experimental methods from research text.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8701" y="2529036"/>
            <a:ext cx="3937099" cy="1142554"/>
          </a:xfrm>
          <a:prstGeom prst="roundRect">
            <a:avLst>
              <a:gd name="adj" fmla="val 111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7301" y="2732187"/>
            <a:ext cx="382788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Relationship Mapping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7301" y="3026718"/>
            <a:ext cx="3653894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Connects entities with "inhibits", "synthesizes", "binds to" to form a connected knowledge structure.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8200" y="1013222"/>
            <a:ext cx="3937099" cy="1252984"/>
          </a:xfrm>
          <a:prstGeom prst="roundRect">
            <a:avLst>
              <a:gd name="adj" fmla="val 101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76800" y="1216372"/>
            <a:ext cx="382788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Graph Visualization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76800" y="1510903"/>
            <a:ext cx="3653894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Interactive Cytoscape.js display with color-coded nodes and confidence-weighted edges.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48200" y="2418606"/>
            <a:ext cx="3937099" cy="1252984"/>
          </a:xfrm>
          <a:prstGeom prst="roundRect">
            <a:avLst>
              <a:gd name="adj" fmla="val 101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76800" y="2621756"/>
            <a:ext cx="3827889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Query &amp; Exploration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76800" y="2916287"/>
            <a:ext cx="3653894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Discover hidden connections between compounds and diseases, trace reaction pathways.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355550"/>
            <a:ext cx="1650742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NiCOBot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58701" y="758726"/>
            <a:ext cx="8585299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Nickel &amp; Cobalt Chemistry Assistant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8701" y="1091208"/>
            <a:ext cx="50795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8701" y="1307009"/>
            <a:ext cx="2489150" cy="2428875"/>
          </a:xfrm>
          <a:prstGeom prst="roundRect">
            <a:avLst>
              <a:gd name="adj" fmla="val 522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1376" y="151968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43421" y="1646634"/>
            <a:ext cx="156091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1376" y="2103834"/>
            <a:ext cx="2435284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Domain Knowledge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1376" y="2487364"/>
            <a:ext cx="2166990" cy="95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Specialized in Ni/Co chemistry: oxidation states, complexes, catalysis, and extraction processes.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251" y="1307009"/>
            <a:ext cx="2489150" cy="2428875"/>
          </a:xfrm>
          <a:prstGeom prst="roundRect">
            <a:avLst>
              <a:gd name="adj" fmla="val 522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12927" y="151968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84972" y="1646634"/>
            <a:ext cx="156091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12927" y="2103834"/>
            <a:ext cx="2435284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Conversational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2927" y="2487364"/>
            <a:ext cx="2166990" cy="95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Chat interface for Ni/Co questions with detailed, context-aware explanations and references.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41802" y="1307009"/>
            <a:ext cx="2489150" cy="2428875"/>
          </a:xfrm>
          <a:prstGeom prst="roundRect">
            <a:avLst>
              <a:gd name="adj" fmla="val 5229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54477" y="151968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26522" y="1646634"/>
            <a:ext cx="156091" cy="21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54477" y="2103834"/>
            <a:ext cx="2559112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RAG-Augmented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54477" y="2487364"/>
            <a:ext cx="2166990" cy="954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Grounded in verified Ni/Co literature via Retrieval-Augmented Generation from curated data.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82463"/>
            <a:ext cx="6543042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RAL Bot - Research Assistant for Literature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58701" y="2052340"/>
            <a:ext cx="3911545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Intelligent Literature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58701" y="2417862"/>
            <a:ext cx="3555950" cy="141351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Upload papers for instant AI analysis</a:t>
            </a:r>
            <a:endParaRPr lang="en-US" sz="130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Extracts key findings and methodology</a:t>
            </a:r>
            <a:endParaRPr lang="en-US" sz="130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Structured section-by-section summaries</a:t>
            </a:r>
            <a:endParaRPr lang="en-US" sz="130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Multi-turn conversations on content</a:t>
            </a:r>
            <a:endParaRPr lang="en-US" sz="130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Suggests related further reading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68552" y="1764357"/>
            <a:ext cx="3682901" cy="2275136"/>
          </a:xfrm>
          <a:prstGeom prst="roundRect">
            <a:avLst>
              <a:gd name="adj" fmla="val 5582"/>
            </a:avLst>
          </a:prstGeom>
          <a:solidFill>
            <a:srgbClr val="F0F6FA"/>
          </a:solidFill>
          <a:ln w="19050">
            <a:solidFill>
              <a:srgbClr val="A8CEE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16202" y="2012007"/>
            <a:ext cx="3888873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Workflow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16202" y="242589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9204" y="2370088"/>
            <a:ext cx="2019071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Upload PDF or paste text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16202" y="2728020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9204" y="2672209"/>
            <a:ext cx="2858697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LLM processes with domain context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6202" y="3030141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19204" y="2974330"/>
            <a:ext cx="2478837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Structured summary generated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6202" y="3332262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19204" y="3276451"/>
            <a:ext cx="2649185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Interactive Q&amp;A on paper content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16202" y="363438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9204" y="3578572"/>
            <a:ext cx="215903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Export results and citations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7701"/>
            <a:ext cx="3396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Platform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511201" y="1943249"/>
            <a:ext cx="1905000" cy="431750"/>
          </a:xfrm>
          <a:prstGeom prst="roundRect">
            <a:avLst>
              <a:gd name="adj" fmla="val 17649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35634" y="2073325"/>
            <a:ext cx="1718239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Frontend (HTML/JS)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30201" y="2438400"/>
            <a:ext cx="2667000" cy="431750"/>
          </a:xfrm>
          <a:prstGeom prst="roundRect">
            <a:avLst>
              <a:gd name="adj" fmla="val 17649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40669" y="2568476"/>
            <a:ext cx="2178356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Flask Routes (Blueprints)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201" y="2933551"/>
            <a:ext cx="3429000" cy="431750"/>
          </a:xfrm>
          <a:prstGeom prst="roundRect">
            <a:avLst>
              <a:gd name="adj" fmla="val 17649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55837" y="3063627"/>
            <a:ext cx="237838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Core Services (Config/Utils)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8701" y="3428702"/>
            <a:ext cx="3810000" cy="431750"/>
          </a:xfrm>
          <a:prstGeom prst="roundRect">
            <a:avLst>
              <a:gd name="adj" fmla="val 17649"/>
            </a:avLst>
          </a:prstGeom>
          <a:solidFill>
            <a:srgbClr val="70AA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18320" y="3558778"/>
            <a:ext cx="2702924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LLM Providers (9+ Integrations)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92551" y="1805880"/>
            <a:ext cx="0" cy="433685"/>
          </a:xfrm>
          <a:prstGeom prst="line">
            <a:avLst/>
          </a:prstGeom>
          <a:noFill/>
          <a:ln w="38100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8551" y="1805880"/>
            <a:ext cx="412142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38551" y="2044005"/>
            <a:ext cx="4121423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Cytoscape.js, RDKit, interactive UI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92551" y="2391966"/>
            <a:ext cx="0" cy="433685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8551" y="2391966"/>
            <a:ext cx="412142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38551" y="2630091"/>
            <a:ext cx="4121423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Blueprint routes for extraction, network, chat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92551" y="2978051"/>
            <a:ext cx="0" cy="433685"/>
          </a:xfrm>
          <a:prstGeom prst="line">
            <a:avLst/>
          </a:prstGeom>
          <a:noFill/>
          <a:ln w="38100">
            <a:solidFill>
              <a:srgbClr val="408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38551" y="2978051"/>
            <a:ext cx="430544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Service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38551" y="3216176"/>
            <a:ext cx="4121423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Config, utilities, session management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92551" y="3564136"/>
            <a:ext cx="0" cy="433685"/>
          </a:xfrm>
          <a:prstGeom prst="line">
            <a:avLst/>
          </a:prstGeom>
          <a:noFill/>
          <a:ln w="38100">
            <a:solidFill>
              <a:srgbClr val="70AA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8551" y="3564136"/>
            <a:ext cx="4121423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 Provider Layer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38551" y="3802261"/>
            <a:ext cx="4121423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Unified interface: OpenAI, Anthropic, Google, etc.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7701"/>
            <a:ext cx="407491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Supported LLM Providers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58701" y="1543050"/>
            <a:ext cx="8026598" cy="410170"/>
          </a:xfrm>
          <a:prstGeom prst="roundRect">
            <a:avLst>
              <a:gd name="adj" fmla="val 24770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6402" y="1657350"/>
            <a:ext cx="214623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Provider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87352" y="1657350"/>
            <a:ext cx="247650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39967" y="1657350"/>
            <a:ext cx="13206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8253" y="1657350"/>
            <a:ext cx="378120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Use Case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8701" y="1953220"/>
            <a:ext cx="8026598" cy="384572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580537" y="1953220"/>
            <a:ext cx="0" cy="38457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3463" y="1953220"/>
            <a:ext cx="0" cy="38457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927" y="2054721"/>
            <a:ext cx="214623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OpenAI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96877" y="2054721"/>
            <a:ext cx="236220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GPT-4o, GPT-4V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49492" y="2054721"/>
            <a:ext cx="13206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17778" y="2054721"/>
            <a:ext cx="3388325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Vision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8701" y="2337792"/>
            <a:ext cx="8026598" cy="3845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580537" y="2337792"/>
            <a:ext cx="0" cy="38457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3463" y="2337792"/>
            <a:ext cx="0" cy="38457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927" y="2439293"/>
            <a:ext cx="214623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96877" y="2439293"/>
            <a:ext cx="224790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Claude 3.5 Sonnet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49492" y="2439293"/>
            <a:ext cx="13206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17778" y="2439293"/>
            <a:ext cx="3388325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PDF analysis, chat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8701" y="2722364"/>
            <a:ext cx="8026598" cy="384572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580537" y="2722364"/>
            <a:ext cx="0" cy="38457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3463" y="2722364"/>
            <a:ext cx="0" cy="38457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927" y="2823865"/>
            <a:ext cx="214623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Google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396877" y="2823865"/>
            <a:ext cx="236220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Gemini 1.5 Pro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49492" y="2823865"/>
            <a:ext cx="13206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Yes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17778" y="2823865"/>
            <a:ext cx="3388325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Multi-modal tasks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8701" y="3106936"/>
            <a:ext cx="8026598" cy="3845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8580537" y="3106936"/>
            <a:ext cx="0" cy="38457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3463" y="3106936"/>
            <a:ext cx="0" cy="38457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927" y="3208437"/>
            <a:ext cx="194812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Mistral / Cohere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96877" y="3208437"/>
            <a:ext cx="224790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Mistral Large, Command R+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49492" y="3208437"/>
            <a:ext cx="13206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17778" y="3208437"/>
            <a:ext cx="3573143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Text analysis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8701" y="3491508"/>
            <a:ext cx="8026598" cy="384572"/>
          </a:xfrm>
          <a:prstGeom prst="rect">
            <a:avLst/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8580537" y="3491508"/>
            <a:ext cx="0" cy="38457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3463" y="3491508"/>
            <a:ext cx="0" cy="384572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927" y="3593009"/>
            <a:ext cx="2047178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Ollama (Local)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396877" y="3593009"/>
            <a:ext cx="224790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Llama 3, Mixtral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49492" y="3593009"/>
            <a:ext cx="13206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17778" y="3593009"/>
            <a:ext cx="3388325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Private data, on-premise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58701" y="3876080"/>
            <a:ext cx="8026598" cy="384572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36402" y="3977580"/>
            <a:ext cx="2146236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+ 4 more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2387352" y="3977580"/>
            <a:ext cx="224790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HuggingFace, Groq...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39967" y="3977580"/>
            <a:ext cx="13206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Varies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08253" y="3977580"/>
            <a:ext cx="3409280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Extensible via config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0350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77701"/>
            <a:ext cx="5748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Impact &amp; Benefits of AI in Chemistry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58701" y="1837879"/>
            <a:ext cx="2195764" cy="21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Research Speed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336602" y="1797248"/>
            <a:ext cx="5563046" cy="279350"/>
          </a:xfrm>
          <a:prstGeom prst="roundRect">
            <a:avLst>
              <a:gd name="adj" fmla="val 18185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36602" y="1797248"/>
            <a:ext cx="5006727" cy="279350"/>
          </a:xfrm>
          <a:prstGeom prst="roundRect">
            <a:avLst>
              <a:gd name="adj" fmla="val 18185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14292" y="1854398"/>
            <a:ext cx="771007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90%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8701" y="2320379"/>
            <a:ext cx="2195764" cy="21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Extraction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36602" y="2279749"/>
            <a:ext cx="5563046" cy="279350"/>
          </a:xfrm>
          <a:prstGeom prst="roundRect">
            <a:avLst>
              <a:gd name="adj" fmla="val 18185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336602" y="2279749"/>
            <a:ext cx="4728567" cy="279350"/>
          </a:xfrm>
          <a:prstGeom prst="roundRect">
            <a:avLst>
              <a:gd name="adj" fmla="val 18185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814292" y="2336899"/>
            <a:ext cx="771007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85%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8701" y="2802880"/>
            <a:ext cx="2195764" cy="21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Literature Coverage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6602" y="2762250"/>
            <a:ext cx="5563046" cy="279350"/>
          </a:xfrm>
          <a:prstGeom prst="roundRect">
            <a:avLst>
              <a:gd name="adj" fmla="val 18185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36602" y="2762250"/>
            <a:ext cx="4339084" cy="279350"/>
          </a:xfrm>
          <a:prstGeom prst="roundRect">
            <a:avLst>
              <a:gd name="adj" fmla="val 18185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814292" y="2819400"/>
            <a:ext cx="771007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78%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8701" y="3285381"/>
            <a:ext cx="2195764" cy="21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336602" y="3244751"/>
            <a:ext cx="5563046" cy="279350"/>
          </a:xfrm>
          <a:prstGeom prst="roundRect">
            <a:avLst>
              <a:gd name="adj" fmla="val 18185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336602" y="3244751"/>
            <a:ext cx="4005262" cy="279350"/>
          </a:xfrm>
          <a:prstGeom prst="roundRect">
            <a:avLst>
              <a:gd name="adj" fmla="val 18185"/>
            </a:avLst>
          </a:prstGeom>
          <a:solidFill>
            <a:srgbClr val="408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814292" y="3301901"/>
            <a:ext cx="771007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72%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8701" y="3767882"/>
            <a:ext cx="2195764" cy="213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Knowledge Discovery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36602" y="3727252"/>
            <a:ext cx="5563046" cy="279350"/>
          </a:xfrm>
          <a:prstGeom prst="roundRect">
            <a:avLst>
              <a:gd name="adj" fmla="val 18185"/>
            </a:avLst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36602" y="3727252"/>
            <a:ext cx="3615928" cy="279350"/>
          </a:xfrm>
          <a:prstGeom prst="roundRect">
            <a:avLst>
              <a:gd name="adj" fmla="val 18185"/>
            </a:avLst>
          </a:prstGeom>
          <a:solidFill>
            <a:srgbClr val="70AA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814292" y="3784402"/>
            <a:ext cx="771007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65%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38302" y="50750"/>
            <a:ext cx="6667396" cy="1176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60"/>
              </a:lnSpc>
              <a:spcAft>
                <a:spcPts val="1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"AI is not replacing chemists; it empowers them to solve previously unsolvable problems."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67200" y="1343323"/>
            <a:ext cx="6096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30544" y="1635323"/>
            <a:ext cx="1482912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2800"/>
              </a:spcAft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Future Directions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9599" y="2221855"/>
            <a:ext cx="2209800" cy="992832"/>
          </a:xfrm>
          <a:prstGeom prst="roundRect">
            <a:avLst>
              <a:gd name="adj" fmla="val 1023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78141" y="2383780"/>
            <a:ext cx="2212717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Multi-Modal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47663" y="2661642"/>
            <a:ext cx="187367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Text + vision + molecular data in unified models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67100" y="2221855"/>
            <a:ext cx="2209800" cy="992832"/>
          </a:xfrm>
          <a:prstGeom prst="roundRect">
            <a:avLst>
              <a:gd name="adj" fmla="val 1023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65641" y="2383780"/>
            <a:ext cx="2212717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Automated Labs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35164" y="2661642"/>
            <a:ext cx="187367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AI-driven autonomous experiment design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4601" y="2221855"/>
            <a:ext cx="2209800" cy="992832"/>
          </a:xfrm>
          <a:prstGeom prst="roundRect">
            <a:avLst>
              <a:gd name="adj" fmla="val 1023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53142" y="2383780"/>
            <a:ext cx="2212717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FF6B2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Drug Discovery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22665" y="2661642"/>
            <a:ext cx="1873672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End-to-end AI from target to candidate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8450" y="126325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" y="1695004"/>
            <a:ext cx="8595211" cy="592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267200" y="2497485"/>
            <a:ext cx="609600" cy="38100"/>
          </a:xfrm>
          <a:prstGeom prst="rect">
            <a:avLst/>
          </a:prstGeom>
          <a:solidFill>
            <a:srgbClr val="FF6B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06239" y="2992636"/>
            <a:ext cx="2731374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GenAI Research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03192" y="3683347"/>
            <a:ext cx="4137467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Showcasing the Power of AI in Chemistry &amp; Biology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Research Platform - AI in Chemistry &amp; Biology</dc:title>
  <dc:subject>PptxGenJS Presentation</dc:subject>
  <dc:creator>GenAI Research Platform</dc:creator>
  <cp:lastModifiedBy>GenAI Research Platform</cp:lastModifiedBy>
  <cp:revision>1</cp:revision>
  <dcterms:created xsi:type="dcterms:W3CDTF">2026-06-07T21:02:47Z</dcterms:created>
  <dcterms:modified xsi:type="dcterms:W3CDTF">2026-06-07T21:02:47Z</dcterms:modified>
</cp:coreProperties>
</file>